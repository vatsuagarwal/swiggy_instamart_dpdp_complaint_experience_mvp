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 Consent %</c:v>
                </c:pt>
              </c:strCache>
            </c:strRef>
          </c:tx>
          <c:spPr>
            <a:solidFill>
              <a:srgbClr val="FF6B35"/>
            </a:solidFill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</c:v>
                </c:pt>
                <c:pt idx="1">
                  <c:v>80</c:v>
                </c:pt>
                <c:pt idx="2">
                  <c:v>81</c:v>
                </c:pt>
                <c:pt idx="3">
                  <c:v>82</c:v>
                </c:pt>
                <c:pt idx="4">
                  <c:v>82</c:v>
                </c:pt>
                <c:pt idx="5">
                  <c:v>70</c:v>
                </c:pt>
                <c:pt idx="6">
                  <c:v>76</c:v>
                </c:pt>
                <c:pt idx="7">
                  <c:v>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image" Target="../media/image-4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62C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262C5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48640"/>
            <a:ext cx="777240" cy="77724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5" name="Image 0" descr="out/shield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7507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 DECK  ·  VEDANTU PM CASE STUDY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057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DPDP-Compliant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Experience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C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</a:t>
            </a:r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Instamart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10-minute delivery app can meet India's data protection law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losing the speed that makes it work.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Vatsal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checkbox is standing in for consent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Instamart collects, uses, and shares personal data — and whether the way it asks for permission actually counts as consent under the DPDP Act.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trust: Rahul has no idea what Instamart does with his location or order history once he taps “Accept.”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risk: DPDP penalties run up to ₹250 crore per instance of non-compliance.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exposure: data can flow across Instamart, Swiggy Food, Genie, and Dineout under one bundled consent.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28523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 </a:t>
            </a:r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publicly observable app behaviour and standard e-commerce data practice — no internal Swiggy data or documentation was used.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41732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IN PLAY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21488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11" name="Shape 9"/>
          <p:cNvSpPr/>
          <p:nvPr/>
        </p:nvSpPr>
        <p:spPr>
          <a:xfrm>
            <a:off x="7402068" y="22768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0" descr="out/locatio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5205" y="2409993"/>
            <a:ext cx="245791" cy="24579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12864" y="28986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67928" y="21488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15" name="Shape 12"/>
          <p:cNvSpPr/>
          <p:nvPr/>
        </p:nvSpPr>
        <p:spPr>
          <a:xfrm>
            <a:off x="9111996" y="22768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1" descr="out/search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133" y="2409993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22792" y="28986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10277856" y="21488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19" name="Shape 15"/>
          <p:cNvSpPr/>
          <p:nvPr/>
        </p:nvSpPr>
        <p:spPr>
          <a:xfrm>
            <a:off x="10821924" y="22768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0" name="Image 2" descr="out/history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061" y="2409993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32720" y="28986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858000" y="35204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23" name="Shape 18"/>
          <p:cNvSpPr/>
          <p:nvPr/>
        </p:nvSpPr>
        <p:spPr>
          <a:xfrm>
            <a:off x="7402068" y="36484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4" name="Image 3" descr="out/food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205" y="3781593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12864" y="42702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preferences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567928" y="35204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27" name="Shape 21"/>
          <p:cNvSpPr/>
          <p:nvPr/>
        </p:nvSpPr>
        <p:spPr>
          <a:xfrm>
            <a:off x="9111996" y="36484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4" descr="out/basket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133" y="3781593"/>
            <a:ext cx="245791" cy="24579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22792" y="42702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10277856" y="35204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31" name="Shape 24"/>
          <p:cNvSpPr/>
          <p:nvPr/>
        </p:nvSpPr>
        <p:spPr>
          <a:xfrm>
            <a:off x="10821924" y="36484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2" name="Image 5" descr="out/device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5061" y="3781593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332720" y="42702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info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858000" y="48920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35" name="Shape 27"/>
          <p:cNvSpPr/>
          <p:nvPr/>
        </p:nvSpPr>
        <p:spPr>
          <a:xfrm>
            <a:off x="7402068" y="50200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6" name="Image 6" descr="out/chart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5205" y="5153193"/>
            <a:ext cx="245791" cy="24579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12864" y="56418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signals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8567928" y="48920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39" name="Shape 30"/>
          <p:cNvSpPr/>
          <p:nvPr/>
        </p:nvSpPr>
        <p:spPr>
          <a:xfrm>
            <a:off x="9111996" y="50200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40" name="Image 7" descr="out/bullhorn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5133" y="5153193"/>
            <a:ext cx="245791" cy="24579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622792" y="56418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prefs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10277856" y="4892040"/>
            <a:ext cx="1600200" cy="1261872"/>
          </a:xfrm>
          <a:prstGeom prst="roundRect">
            <a:avLst>
              <a:gd name="adj" fmla="val 4348"/>
            </a:avLst>
          </a:prstGeom>
          <a:solidFill>
            <a:srgbClr val="262C52"/>
          </a:solidFill>
          <a:ln/>
        </p:spPr>
      </p:sp>
      <p:sp>
        <p:nvSpPr>
          <p:cNvPr id="43" name="Shape 33"/>
          <p:cNvSpPr/>
          <p:nvPr/>
        </p:nvSpPr>
        <p:spPr>
          <a:xfrm>
            <a:off x="10821924" y="502005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44" name="Image 8" descr="out/share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5061" y="5153193"/>
            <a:ext cx="245791" cy="245791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332720" y="564184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sharing</a:t>
            </a:r>
            <a:endParaRPr lang="en-US" sz="950" dirty="0"/>
          </a:p>
        </p:txBody>
      </p:sp>
      <p:sp>
        <p:nvSpPr>
          <p:cNvPr id="46" name="Text 3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 just wants his groceries in 10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4846320"/>
          </a:xfrm>
          <a:prstGeom prst="roundRect">
            <a:avLst>
              <a:gd name="adj" fmla="val 2703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783080"/>
            <a:ext cx="1645920" cy="164592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6" name="Image 0" descr="out/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259" y="2211019"/>
            <a:ext cx="790042" cy="7900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Rahul, 26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 · Bengaluru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43434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62C52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4–5x / week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50292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just want groceries in 10 minutes — not a decision about my data.”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4340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 WANTS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920240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4" name="Image 1" descr="out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159" y="20509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9933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— fast checkout, no friction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343400" y="2606040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7" name="Image 2" descr="out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159" y="27367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2679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recommendations that save him time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343400" y="3291840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20" name="Image 3" descr="out/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159" y="342259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0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sense of control over his own data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34340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TODAY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43400" y="45720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4" name="Image 4" descr="out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159" y="4702759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9200" y="46451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 are buried — he's never found them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343400" y="52578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7" name="Image 5" descr="out/bullhor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4159" y="5388559"/>
            <a:ext cx="241402" cy="24140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9200" y="53309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what he's signed up for: SMS? WhatsApp? Push?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343400" y="59436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0" name="Image 6" descr="out/warning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4159" y="6074359"/>
            <a:ext cx="241402" cy="2414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29200" y="60167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what's shared between Instamart, Swiggy, and Genie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CURRENT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blanket “Accept” covers everything, forever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1892808"/>
            <a:ext cx="585216" cy="585216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out/down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168" y="204496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32888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07208" y="16916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7580" y="1892808"/>
            <a:ext cx="585216" cy="585216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1" descr="out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736" y="204496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T&amp;Cs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(bundled consent)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91456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065776" y="16916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56148" y="1892808"/>
            <a:ext cx="585216" cy="585216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out/bas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04" y="204496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order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050024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324344" y="16916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CEFE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14716" y="1892808"/>
            <a:ext cx="585216" cy="58521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3" descr="out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872" y="2044964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15784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powers personalisation,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sharing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308592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582912" y="16916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CEFE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73284" y="1892808"/>
            <a:ext cx="585216" cy="58521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6" name="Image 4" descr="out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5440" y="2044964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74352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visibility,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edit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FALLS SHORT OF DPDP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4160520"/>
            <a:ext cx="11109960" cy="2148840"/>
          </a:xfrm>
          <a:prstGeom prst="roundRect">
            <a:avLst>
              <a:gd name="adj" fmla="val 4255"/>
            </a:avLst>
          </a:prstGeom>
          <a:solidFill>
            <a:srgbClr val="1B1F3B"/>
          </a:solidFill>
          <a:ln/>
        </p:spPr>
      </p:sp>
      <p:sp>
        <p:nvSpPr>
          <p:cNvPr id="30" name="Shape 23"/>
          <p:cNvSpPr/>
          <p:nvPr/>
        </p:nvSpPr>
        <p:spPr>
          <a:xfrm>
            <a:off x="868680" y="4389120"/>
            <a:ext cx="365760" cy="36576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31" name="Image 5" descr="out/warnin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778" y="4484218"/>
            <a:ext cx="175565" cy="1755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4361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purpose-level consent — one “yes” covers essential, marketing and analytics alike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309360" y="4389120"/>
            <a:ext cx="365760" cy="36576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34" name="Image 6" descr="out/warning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4458" y="4484218"/>
            <a:ext cx="175565" cy="17556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12280" y="4361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withdrawal — leaving requires deleting the account entirely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868680" y="5010912"/>
            <a:ext cx="365760" cy="36576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37" name="Image 7" descr="out/warning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778" y="5106010"/>
            <a:ext cx="175565" cy="17556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371600" y="4983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plain-language notice of why each type of data is collected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6309360" y="5010912"/>
            <a:ext cx="365760" cy="36576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40" name="Image 8" descr="out/warning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4458" y="5106010"/>
            <a:ext cx="175565" cy="17556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812280" y="4983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self-serve way to access, correct, or erase personal data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868680" y="5632704"/>
            <a:ext cx="365760" cy="36576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43" name="Image 9" descr="out/warning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778" y="5727802"/>
            <a:ext cx="175565" cy="17556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371600" y="56052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parental consent path for users who order on a family/child profile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Instamart Privacy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purpose-based consent groups, replacing the single T&amp;C checkbox. Each is explained in plain language and can be turned on or off independently — in line with DPDP's purpose-limitation and explicit-consent requirements.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33172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out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2521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5935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address, payment processing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211580" y="455371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11580" y="4553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20574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0540" y="2331720"/>
            <a:ext cx="731520" cy="73152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4" name="Image 1" descr="out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252191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66160" y="35935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search history power recommendations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046220" y="455371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9D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046220" y="4553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17920" y="20574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55180" y="23317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2" descr="out/bullho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375" y="252191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00800" y="35935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WhatsApp, push — chosen per channel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880860" y="455371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80860" y="4553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52560" y="20574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989820" y="23317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8" name="Image 3" descr="out/sh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2521915"/>
            <a:ext cx="351130" cy="3511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89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Sharing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235440" y="35935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insights, brand campaigns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715500" y="455371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715500" y="4553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8640" y="53492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0F9F7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54681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over the alternatives: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“accept-all” toggle isn't DPDP-compliant; fully granular, item-by-item toggles (18+ switches) create decision fatigue. Four grouped purposes balance legal defensibility with a checkout that still takes under a minute.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METRICS &amp; SUCCESS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consent the way we'd measure any funnel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out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8004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1810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Consent Coverage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23760" y="1645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monthly active users with current, purpose-specific, DPDP-valid consent on record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METRICS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2" name="Image 1" descr="out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1821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3108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completion rate at onboarding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5" name="Image 2" descr="out/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78561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712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consent modification rate / month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8" name="Image 3" descr="out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891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3159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fulfil a data-rights request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7220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72200" y="30632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4" descr="out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18211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3108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click-through rate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36667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5" name="Image 5" descr="out/bas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785616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712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conversion rate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172200" y="42702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8" name="Image 6" descr="out/warning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4389120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66560" y="43159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app uninstall rate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548640" y="5029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(60 DAYS POST-LAUNCH)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48640" y="534924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F5F6FA"/>
          </a:solidFill>
          <a:ln/>
        </p:spPr>
      </p:sp>
      <p:sp>
        <p:nvSpPr>
          <p:cNvPr id="32" name="Text 23"/>
          <p:cNvSpPr/>
          <p:nvPr/>
        </p:nvSpPr>
        <p:spPr>
          <a:xfrm>
            <a:off x="822960" y="5440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valid consent coverage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3520440" y="5440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flow adds &lt; 15 sec to onboarding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6217920" y="5440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dip in D7 retention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8915400" y="5440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data-rights requests met within DPDP's mandated window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DIAGNOSTIC THINKING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Consent Coverage drops 15% — no release shipped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4709160"/>
          </a:xfrm>
          <a:prstGeom prst="roundRect">
            <a:avLst>
              <a:gd name="adj" fmla="val 344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6916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out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18580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funnel, not the headline number.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which step of consent (view → toggle → confirm) actually broke before guessing why.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17320"/>
            <a:ext cx="8183880" cy="1024128"/>
          </a:xfrm>
          <a:prstGeom prst="roundRect">
            <a:avLst>
              <a:gd name="adj" fmla="val 7143"/>
            </a:avLst>
          </a:prstGeom>
          <a:solidFill>
            <a:srgbClr val="F5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1600200"/>
            <a:ext cx="658368" cy="658368"/>
          </a:xfrm>
          <a:prstGeom prst="ellipse">
            <a:avLst/>
          </a:prstGeom>
          <a:solidFill>
            <a:srgbClr val="5B6178"/>
          </a:solidFill>
          <a:ln/>
        </p:spPr>
      </p:sp>
      <p:pic>
        <p:nvPicPr>
          <p:cNvPr id="11" name="Image 1" descr="out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056" y="17713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1545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error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34840" y="1874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Logging/tagging bug changed how “valid consent” is calculated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29000" y="2578608"/>
            <a:ext cx="8183880" cy="1024128"/>
          </a:xfrm>
          <a:prstGeom prst="roundRect">
            <a:avLst>
              <a:gd name="adj" fmla="val 7143"/>
            </a:avLst>
          </a:prstGeom>
          <a:solidFill>
            <a:srgbClr val="F5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3611880" y="2761488"/>
            <a:ext cx="658368" cy="65836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out/devi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056" y="293266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3484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/ OS change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34840" y="30358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or Android updated its own permission dialog behaviour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429000" y="3739896"/>
            <a:ext cx="8183880" cy="1024128"/>
          </a:xfrm>
          <a:prstGeom prst="roundRect">
            <a:avLst>
              <a:gd name="adj" fmla="val 7143"/>
            </a:avLst>
          </a:prstGeom>
          <a:solidFill>
            <a:srgbClr val="F5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3611880" y="3922776"/>
            <a:ext cx="658368" cy="658368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21" name="Image 3" descr="out/friend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056" y="4093952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3484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shift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434840" y="41970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acquisition channel brought in a lower-intent cohort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29000" y="4901184"/>
            <a:ext cx="8183880" cy="1024128"/>
          </a:xfrm>
          <a:prstGeom prst="roundRect">
            <a:avLst>
              <a:gd name="adj" fmla="val 7143"/>
            </a:avLst>
          </a:prstGeom>
          <a:solidFill>
            <a:srgbClr val="F5F6FA"/>
          </a:solidFill>
          <a:ln/>
        </p:spPr>
      </p:sp>
      <p:sp>
        <p:nvSpPr>
          <p:cNvPr id="25" name="Shape 19"/>
          <p:cNvSpPr/>
          <p:nvPr/>
        </p:nvSpPr>
        <p:spPr>
          <a:xfrm>
            <a:off x="3611880" y="5084064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out/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056" y="5255240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event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34840" y="53583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Privacy/data-breach news (Swiggy or industry-wide) dented trust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29000" y="5623560"/>
            <a:ext cx="8183880" cy="530352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0" name="Text 23"/>
          <p:cNvSpPr/>
          <p:nvPr/>
        </p:nvSpPr>
        <p:spPr>
          <a:xfrm>
            <a:off x="3657600" y="56235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platform, city &amp; cohort → correlate with any OS/SDK release → scan reviews &amp; support tickets → fix root cause → re-verify with a small rollout before declaring resolved.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Health — monitoring dashboard (mock data)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020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out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408" y="17713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Consent Coverage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600200"/>
            <a:ext cx="658368" cy="658368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1" name="Image 1" descr="out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328" y="17713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251960" y="1965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Setup Time (avg)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600200"/>
            <a:ext cx="658368" cy="65836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out/down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248" y="177137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040880" y="1965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Data-Rights Requests / wk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79992" y="1600200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3" descr="out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168" y="177137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2980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6.8%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829800" y="1965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CTR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CONSENT COVERAGE — 8 WEEK TREND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3063240"/>
          <a:ext cx="6675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/>
          <p:nvPr/>
        </p:nvSpPr>
        <p:spPr>
          <a:xfrm>
            <a:off x="7452360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BY PLATFORM &amp; CITY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3108960"/>
          <a:ext cx="4206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NCR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users (&lt; 30d)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0"/>
          <p:cNvSpPr/>
          <p:nvPr/>
        </p:nvSpPr>
        <p:spPr>
          <a:xfrm>
            <a:off x="7452360" y="5257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convert to full consent more slowly — flags an onboarding-copy opportunity, not a compliance gap.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ROLLOUT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compliance-critical parts never A/B 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77440" y="16916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out/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086" y="18342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Center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transparency page. Soft launch to 5% of users.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15087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212080" y="1691640"/>
            <a:ext cx="548640" cy="54864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13" name="Image 1" descr="out/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26" y="18342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Toggles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66160" y="2880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consent dashboard. A/B test copy &amp; layout only.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5087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9" name="Image 2" descr="out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366" y="183428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Purpose-Based Consent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00800" y="2880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for new users; existing users migrated via in-app nudge.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52560" y="15087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23544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0881360" y="1691640"/>
            <a:ext cx="548640" cy="548640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25" name="Image 3" descr="out/flas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4006" y="183428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354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Transparency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235440" y="2880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am I seeing this” + verifiable parental consent for child profiles.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617720"/>
            <a:ext cx="11109960" cy="1691640"/>
          </a:xfrm>
          <a:prstGeom prst="roundRect">
            <a:avLst>
              <a:gd name="adj" fmla="val 5405"/>
            </a:avLst>
          </a:prstGeom>
          <a:solidFill>
            <a:srgbClr val="FCEFEA"/>
          </a:solidFill>
          <a:ln/>
        </p:spPr>
      </p:sp>
      <p:sp>
        <p:nvSpPr>
          <p:cNvPr id="29" name="Shape 23"/>
          <p:cNvSpPr/>
          <p:nvPr/>
        </p:nvSpPr>
        <p:spPr>
          <a:xfrm>
            <a:off x="822960" y="48463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0" name="Image 4" descr="out/flas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500085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A/B APPROACH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600200" y="502920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funnel drop-off and support tickets at each phase; require legal sign-off before Phase 3 enforcement. Copy, toggle order, and visual design can be A/B tested — but the consent requirement itself (opt-in default, right to withdraw) cannot: it must apply uniformly. There's no “consent lottery” where only some users get their legal rights.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62C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RISKS &amp; TRADE-OFFS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costs something — we're choosing what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7" name="Image 0" descr="out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2080077"/>
            <a:ext cx="210678" cy="2106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9933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friction may lower checkout conversion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438912" cy="438912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10" name="Image 1" descr="out/be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647005"/>
            <a:ext cx="210678" cy="2106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560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fatigue if prompts feel repetitive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099816"/>
            <a:ext cx="438912" cy="438912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13" name="Image 2" descr="out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213933"/>
            <a:ext cx="210678" cy="21067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1272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— and its revenue — may dip short-term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666744"/>
            <a:ext cx="438912" cy="438912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16" name="Image 3" descr="out/sca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3780861"/>
            <a:ext cx="210678" cy="2106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6941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complexity: retrofitting cross-platform data flows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8064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806440" y="1965960"/>
            <a:ext cx="438912" cy="438912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20" name="Image 4" descr="out/red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557" y="2080077"/>
            <a:ext cx="210678" cy="21067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19933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decline every optional category — core service must still work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806440" y="2532888"/>
            <a:ext cx="438912" cy="438912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23" name="Image 5" descr="out/redo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557" y="2647005"/>
            <a:ext cx="210678" cy="21067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0080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/ family profiles — verifiable parental consent required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806440" y="3099816"/>
            <a:ext cx="438912" cy="438912"/>
          </a:xfrm>
          <a:prstGeom prst="ellipse">
            <a:avLst/>
          </a:prstGeom>
          <a:solidFill>
            <a:srgbClr val="1F9D8A"/>
          </a:solidFill>
          <a:ln/>
        </p:spPr>
      </p:sp>
      <p:pic>
        <p:nvPicPr>
          <p:cNvPr id="26" name="Image 6" descr="out/redo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557" y="3213933"/>
            <a:ext cx="210678" cy="21067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400800" y="3127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Data-deletion requests that arrive mid-active-order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48640" y="44348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262C52"/>
          </a:solidFill>
          <a:ln/>
        </p:spPr>
      </p:sp>
      <p:sp>
        <p:nvSpPr>
          <p:cNvPr id="29" name="Text 20"/>
          <p:cNvSpPr/>
          <p:nvPr/>
        </p:nvSpPr>
        <p:spPr>
          <a:xfrm>
            <a:off x="86868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WE'RE ACCEPTING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868680" y="498348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compliance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short-term dip in data collection and marketing reach 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 exchange for greater trust, stronger retention, and materially lower regulatory risk.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Instamart · DPDP Consent Redesign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DPDP-Compliant Consent Experience for Swiggy Instamart</dc:title>
  <dc:subject>PptxGenJS Presentation</dc:subject>
  <dc:creator>Vatsal</dc:creator>
  <cp:lastModifiedBy>Vatsal</cp:lastModifiedBy>
  <cp:revision>1</cp:revision>
  <dcterms:created xsi:type="dcterms:W3CDTF">2026-07-02T19:33:40Z</dcterms:created>
  <dcterms:modified xsi:type="dcterms:W3CDTF">2026-07-02T19:33:41Z</dcterms:modified>
</cp:coreProperties>
</file>